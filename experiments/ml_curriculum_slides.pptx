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3200400" cy="1097280"/>
          </a:xfrm>
          <a:prstGeom prst="rect">
            <a:avLst/>
          </a:prstGeom>
          <a:solidFill>
            <a:srgbClr val="FF8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 within Course Topics: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8C2F"/>
                </a:solidFill>
              </a:rPr>
              <a:t>Mapping the ML Curriculum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4572000" cy="45720"/>
          </a:xfrm>
          <a:prstGeom prst="rect">
            <a:avLst/>
          </a:prstGeom>
          <a:solidFill>
            <a:srgbClr val="FF8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4"/>
                </a:solidFill>
              </a:rPr>
              <a:t>Alina G.  ·  Shrivarshini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CIC Retreat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Big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F4F4"/>
                </a:solidFill>
              </a:rPr>
              <a:t>As AI reshapes every field, what exactly are students learning — and is it enough?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40280"/>
            <a:ext cx="2606040" cy="3383280"/>
          </a:xfrm>
          <a:prstGeom prst="rect">
            <a:avLst/>
          </a:prstGeom>
          <a:solidFill>
            <a:srgbClr val="282842"/>
          </a:solidFill>
          <a:ln w="1524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2404872"/>
            <a:ext cx="502920" cy="38404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3865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926080"/>
            <a:ext cx="22768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2F"/>
                </a:solidFill>
              </a:rPr>
              <a:t>What's being taught?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749040"/>
            <a:ext cx="22768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4F4"/>
                </a:solidFill>
              </a:rPr>
              <a:t>Which ML topics appear across university courses, and at what level of granularity?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240280"/>
            <a:ext cx="2606040" cy="3383280"/>
          </a:xfrm>
          <a:prstGeom prst="rect">
            <a:avLst/>
          </a:prstGeom>
          <a:solidFill>
            <a:srgbClr val="282842"/>
          </a:solidFill>
          <a:ln w="1524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2404872"/>
            <a:ext cx="502920" cy="38404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23865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926080"/>
            <a:ext cx="22768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2F"/>
                </a:solidFill>
              </a:rPr>
              <a:t>How much time?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3749040"/>
            <a:ext cx="22768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4F4"/>
                </a:solidFill>
              </a:rPr>
              <a:t>How many weeks does each topic receive, and how does emphasis vary by school?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2240280"/>
            <a:ext cx="2606040" cy="3383280"/>
          </a:xfrm>
          <a:prstGeom prst="rect">
            <a:avLst/>
          </a:prstGeom>
          <a:solidFill>
            <a:srgbClr val="282842"/>
          </a:solidFill>
          <a:ln w="1524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2404872"/>
            <a:ext cx="502920" cy="38404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3865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926080"/>
            <a:ext cx="22768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2F"/>
                </a:solidFill>
              </a:rPr>
              <a:t>Are there discrepancies?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749040"/>
            <a:ext cx="22768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4F4"/>
                </a:solidFill>
              </a:rPr>
              <a:t>Do courses differ significantly in scope, depth, or ordering of material?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7696" y="2240280"/>
            <a:ext cx="2606040" cy="3383280"/>
          </a:xfrm>
          <a:prstGeom prst="rect">
            <a:avLst/>
          </a:prstGeom>
          <a:solidFill>
            <a:srgbClr val="282842"/>
          </a:solidFill>
          <a:ln w="1524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2404872"/>
            <a:ext cx="502920" cy="38404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3865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926080"/>
            <a:ext cx="22768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2F"/>
                </a:solidFill>
              </a:rPr>
              <a:t>Are there gaps?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749040"/>
            <a:ext cx="22768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4F4"/>
                </a:solidFill>
              </a:rPr>
              <a:t>What's missing from current curricula — and how much does it matter?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291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91840" cy="86868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Standardize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55A00"/>
                </a:solidFill>
              </a:rPr>
              <a:t>Build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Adopted the ACM 2023 CS Curricula taxonomy — two levels:
L1 (broad categories) and L2 (fine-grained subtopics)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691640"/>
            <a:ext cx="3291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691640"/>
            <a:ext cx="3291840" cy="86868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55A00"/>
                </a:solidFill>
              </a:rPr>
              <a:t>Gather syllabuses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79476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Identified 500+ ML courses at US &amp; Canadian universities;
selected those with week-by-week schedules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691640"/>
            <a:ext cx="3291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691640"/>
            <a:ext cx="3291840" cy="86868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6974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55A00"/>
                </a:solidFill>
              </a:rPr>
              <a:t>Extract topics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9476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Manually labeled 50 syllabuses; built an LLM-based pipeline
to automate extraction and compare against human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55A00"/>
                </a:solidFill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55A00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We've Done So Far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11365992" cy="822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109728" cy="8229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5A0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Refined taxonomy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4"/>
                </a:solidFill>
              </a:rPr>
              <a:t>Aligned topic labels with ACM 2023 L1/L2 structure across the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42032"/>
            <a:ext cx="11365992" cy="8229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542032"/>
            <a:ext cx="109728" cy="8229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5A00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15184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500+ courses scanned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3347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4"/>
                </a:solidFill>
              </a:rPr>
              <a:t>Built a comprehensive list of potential ML courses at US &amp; Canadian universities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9584"/>
            <a:ext cx="11365992" cy="822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529584"/>
            <a:ext cx="109728" cy="8229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02736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5A0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02736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50 syllabuses labeled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21024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4"/>
                </a:solidFill>
              </a:rPr>
              <a:t>Manually labeled week-by-week schedules; includes 5 Canadian schools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17136"/>
            <a:ext cx="11365992" cy="8229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517136"/>
            <a:ext cx="109728" cy="8229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5A00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9028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Auto-labeling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08576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4"/>
                </a:solidFill>
              </a:rPr>
              <a:t>Developed an LLM pipeline (DeepSeek) to extract topics 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504688"/>
            <a:ext cx="11365992" cy="822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504688"/>
            <a:ext cx="109728" cy="8229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77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5A00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Baseline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59612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4"/>
                </a:solidFill>
              </a:rPr>
              <a:t>Evaluated against human labels using Precision@O, Recall@O, and F1@O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Average Topics: True vs. Extracted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LLM Powered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[ chart goes here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371600"/>
            <a:ext cx="3017520" cy="4114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2F"/>
                </a:solidFill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4"/>
                </a:solidFill>
              </a:rPr>
              <a:t>The LLM extracts ~12 topics on average vs. ~28 in the human labels —
suggesting the model is conservative rather than noisy.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F1@O Score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LLM Powered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[ chart goes here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371600"/>
            <a:ext cx="3017520" cy="4114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2F"/>
                </a:solidFill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4"/>
                </a:solidFill>
              </a:rPr>
              <a:t>Most syllabuses score between 0.5–0.7 F1, indicating moderate
but consistent overlap with human-labeled topics.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Precision@O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LLM Powered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[ chart goes here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371600"/>
            <a:ext cx="3017520" cy="4114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2F"/>
                </a:solidFill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4"/>
                </a:solidFill>
              </a:rPr>
              <a:t>Bimodal pattern: when the LLM picks a topic, it's almost always correct.
The challenge is coverage, not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Recall@O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LLM Powered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[ chart goes here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371600"/>
            <a:ext cx="3017520" cy="4114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8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08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2F"/>
                </a:solidFill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4"/>
                </a:solidFill>
              </a:rPr>
              <a:t>Recall is spread 0–1, peaking around 0.5–0.6 — the LLM misses
roughly half of the true topics per syllabus.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411480" cy="6858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10789920" cy="685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4"/>
                </a:solidFill>
              </a:rPr>
              <a:t>Expand to 60+ labeled syllabuses and add university-level metadata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411480" cy="6858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4320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97480"/>
            <a:ext cx="10789920" cy="685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4"/>
                </a:solidFill>
              </a:rPr>
              <a:t>Improve LLM recall — explore prompting strategies and chain-of-thought extraction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03320"/>
            <a:ext cx="411480" cy="6858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4904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703320"/>
            <a:ext cx="10789920" cy="685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4"/>
                </a:solidFill>
              </a:rPr>
              <a:t>Cross-university analysis: which topics cluster together? Which are under-taught?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709160"/>
            <a:ext cx="411480" cy="68580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75488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709160"/>
            <a:ext cx="10789920" cy="685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4"/>
                </a:solidFill>
              </a:rPr>
              <a:t>Integrate findings into the AAAI 2026 paper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